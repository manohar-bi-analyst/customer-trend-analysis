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SemiBold"/>
      <p:regular r:id="rId201315"/>
    </p:embeddedFont>
    <p:embeddedFont>
      <p:font typeface="Public Sans Bold"/>
      <p:regular r:id="rId201316"/>
    </p:embeddedFont>
    <p:embeddedFont>
      <p:font typeface="Sora SemiBold"/>
      <p:regular r:id="rId201317"/>
    </p:embeddedFont>
    <p:embeddedFont>
      <p:font typeface="Sora Extra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5934" y="1975743"/>
            <a:ext cx="7638859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0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SQL analysis of consumer shopping behavior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93366"/>
            <a:ext cx="6212724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Turn transactions into better decisions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2191941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88293" y="2171898"/>
            <a:ext cx="583401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Read the customer mix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88293" y="2636044"/>
            <a:ext cx="583401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Understand changes across demographics, product categories, and online versus offline channels.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09585" y="3494881"/>
            <a:ext cx="878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31254" y="3474839"/>
            <a:ext cx="579105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Test purchase drivers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31254" y="3938984"/>
            <a:ext cx="5791055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Explore discounts, reviews, seasons, payment preferences, and subscriptions.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09585" y="4797822"/>
            <a:ext cx="8847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37108" y="4777780"/>
            <a:ext cx="578520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Make the analysis actionable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37108" y="5241925"/>
            <a:ext cx="5785201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Translate findings into customer engagement, product, and marketing recommendations.</a:t>
            </a:r>
            <a:endParaRPr lang="en-US" sz="14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8983" y="0"/>
            <a:ext cx="4302712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09585" y="3316089"/>
            <a:ext cx="6212724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4" name="Shape 11"/>
          <p:cNvSpPr/>
          <p:nvPr/>
        </p:nvSpPr>
        <p:spPr>
          <a:xfrm>
            <a:off x="609585" y="4619030"/>
            <a:ext cx="6212724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15" name="Text 12"/>
          <p:cNvSpPr/>
          <p:nvPr/>
        </p:nvSpPr>
        <p:spPr>
          <a:xfrm>
            <a:off x="609585" y="6451898"/>
            <a:ext cx="78956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Python, SQL, Power BI, and delivery form one path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564382"/>
            <a:ext cx="2647884" cy="2537916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3578" y="1818382"/>
            <a:ext cx="85832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863578" y="2142232"/>
            <a:ext cx="2139896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863578" y="2316163"/>
            <a:ext cx="213989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Prepare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3578" y="2780308"/>
            <a:ext cx="213989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Clean and transform the raw dataset in Python.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384465" y="1564382"/>
            <a:ext cx="2647884" cy="2537916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8459" y="1818382"/>
            <a:ext cx="90554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3638459" y="2142232"/>
            <a:ext cx="2139896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3638459" y="2316163"/>
            <a:ext cx="213989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Query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38459" y="2780308"/>
            <a:ext cx="2139896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Structure transactions and query customer segments and purchase drivers in SQL.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59346" y="1564382"/>
            <a:ext cx="2647884" cy="2537916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3340" y="1818382"/>
            <a:ext cx="911996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413340" y="2142232"/>
            <a:ext cx="2139896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413340" y="2316163"/>
            <a:ext cx="213989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Surface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13340" y="2780308"/>
            <a:ext cx="2139896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Show patterns in an interactive Power BI dashboard.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934226" y="1564382"/>
            <a:ext cx="2647884" cy="2537916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8220" y="1818382"/>
            <a:ext cx="91120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9188220" y="2142232"/>
            <a:ext cx="2139896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9188220" y="2316163"/>
            <a:ext cx="213989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Deliver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88220" y="2780308"/>
            <a:ext cx="2139896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Package findings in a report, presentation, and organized GitHub repository.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398263" y="6451898"/>
            <a:ext cx="79343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083098"/>
            <a:ext cx="4648084" cy="1820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Revenue is concentrated in the male customer segment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4119463"/>
            <a:ext cx="464808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Male customers generated 157,890 in total revenue versus 75,191 for female customers, about 2.1× higher in this dataset.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027" y="1588393"/>
            <a:ext cx="4648084" cy="36811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97766" y="6451898"/>
            <a:ext cx="79392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Discounts reach high-value purchases, too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564382"/>
          <a:ext cx="9143771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3474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92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CUSTOMER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92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PURCHASE AMOUNT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Customer 9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97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Customer 4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90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Customer 20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90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Customer 7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85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Customer 16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81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Customer 3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73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Customer 13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72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Customer 12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68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Customer 2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64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6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Customer 22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62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551152" y="3027759"/>
            <a:ext cx="4030959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0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10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7551152" y="3954859"/>
            <a:ext cx="4030959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customers used a discount and purchased at or above the dataset average.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551152" y="5097165"/>
            <a:ext cx="4030959" cy="635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7" name="Text 4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93366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Product ratings are tightly clustered, so small gaps matter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19498"/>
            <a:ext cx="6349841" cy="35576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70509" y="3675261"/>
            <a:ext cx="3911601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399354" y="6451898"/>
            <a:ext cx="79234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Shipping choice barely changes average basket size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42157"/>
            <a:ext cx="10972526" cy="39501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85" y="5578078"/>
            <a:ext cx="10972526" cy="635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5" name="Text 2"/>
          <p:cNvSpPr/>
          <p:nvPr/>
        </p:nvSpPr>
        <p:spPr>
          <a:xfrm>
            <a:off x="11404116" y="6451898"/>
            <a:ext cx="7875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Subscriptions have not yet lifted average sales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564382"/>
          <a:ext cx="9143771" cy="914400"/>
        </p:xfrm>
        <a:graphic>
          <a:graphicData uri="http://schemas.openxmlformats.org/drawingml/2006/table">
            <a:tbl>
              <a:tblPr/>
              <a:tblGrid>
                <a:gridCol w="2852857"/>
                <a:gridCol w="1975055"/>
                <a:gridCol w="2852857"/>
                <a:gridCol w="3291758"/>
              </a:tblGrid>
              <a:tr h="3474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92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SUBSCRIPTION STATUS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92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CUSTOMERS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92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AVERAGE SALE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92" kern="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TOTAL SALES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09535" marR="109535" marT="58419" marB="5841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Subscribers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1,053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59.49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62,645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6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Non-subscribers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2,847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59.87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170,436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585" y="3089573"/>
            <a:ext cx="5257668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0" dirty="0">
                <a:solidFill>
                  <a:srgbClr val="1B2632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59.49 </a:t>
            </a:r>
            <a:pPr algn="l" indent="0" marL="0">
              <a:lnSpc>
                <a:spcPct val="83000"/>
              </a:lnSpc>
              <a:buNone/>
            </a:pPr>
            <a:r>
              <a:rPr lang="en-US" sz="2000" spc="-112" kern="0" dirty="0">
                <a:solidFill>
                  <a:srgbClr val="1B2632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vs</a:t>
            </a:r>
            <a:pPr algn="l" indent="0" marL="0">
              <a:lnSpc>
                <a:spcPct val="83000"/>
              </a:lnSpc>
              <a:buNone/>
            </a:pPr>
            <a:r>
              <a:rPr lang="en-US" sz="5600" spc="-112" kern="0" dirty="0">
                <a:solidFill>
                  <a:srgbClr val="1B2632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 59.87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609585" y="4016673"/>
            <a:ext cx="525766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sale · subscribers versus non-subscribers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93366"/>
            <a:ext cx="3139401" cy="2275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Discount dependence is broad across the leading products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3384848"/>
            <a:ext cx="3139401" cy="6350"/>
          </a:xfrm>
          <a:prstGeom prst="rect">
            <a:avLst/>
          </a:prstGeom>
          <a:solidFill>
            <a:srgbClr val="A7B3B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849" y="609600"/>
            <a:ext cx="6309262" cy="44397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99056" y="6451898"/>
            <a:ext cx="79263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93366"/>
            <a:ext cx="6212724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Three actions follow from the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2019498"/>
            <a:ext cx="6212724" cy="1289645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2121098"/>
            <a:ext cx="57555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spc="-48" kern="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Segment smarter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8179" y="2581473"/>
            <a:ext cx="575553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Design campaigns around high-value discount users and gender-specific revenue patterns.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3436045"/>
            <a:ext cx="6212724" cy="1289645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3537645"/>
            <a:ext cx="57555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spc="-48" kern="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Improve the offer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38179" y="3998020"/>
            <a:ext cx="575553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Focus product and review interventions on the lowest-rated items rather than treating all categories equally.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9585" y="4852591"/>
            <a:ext cx="6212724" cy="1289645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10" name="Text 8"/>
          <p:cNvSpPr/>
          <p:nvPr/>
        </p:nvSpPr>
        <p:spPr>
          <a:xfrm>
            <a:off x="838179" y="4954191"/>
            <a:ext cx="575553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spc="-48" kern="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Prove subscription value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8179" y="5414566"/>
            <a:ext cx="575553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Test benefits that move average sale or repeat purchase, not just sign-ups.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8983" y="0"/>
            <a:ext cx="4302712" cy="6858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9585" y="6451898"/>
            <a:ext cx="76317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2026-09-28T20:33:39Z</dcterms:created>
  <dcterms:modified xsi:type="dcterms:W3CDTF">2026-09-28T20:33:39Z</dcterms:modified>
</cp:coreProperties>
</file>